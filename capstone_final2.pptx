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18"/>
    <p:sldId id="260" r:id="rId6"/>
    <p:sldId id="261" r:id="rId7"/>
    <p:sldId id="262" r:id="rId8"/>
    <p:sldId id="263" r:id="rId9"/>
    <p:sldId id="264" r:id="rId10"/>
    <p:sldId id="265" r:id="rId11"/>
    <p:sldId id="268" r:id="rId19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5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Incident Outcome Counts (n = 683,962)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D0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Days Away
From Work</c:v>
                  </c:pt>
                  <c:pt idx="1">
                    <c:v>Other
Case</c:v>
                  </c:pt>
                  <c:pt idx="2">
                    <c:v>Job Transfer
Restriction</c:v>
                  </c:pt>
                  <c:pt idx="3">
                    <c:v>Death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244181</c:v>
                </c:pt>
                <c:pt idx="1">
                  <c:v>232651</c:v>
                </c:pt>
                <c:pt idx="2">
                  <c:v>206931</c:v>
                </c:pt>
                <c:pt idx="3">
                  <c:v>199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2342"/>
                </a:solidFill>
                <a:latin typeface="Arial"/>
              </a:rPr>
              <a:t>Top 10 States by Incidents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CA</c:v>
                  </c:pt>
                  <c:pt idx="1">
                    <c:v>TX</c:v>
                  </c:pt>
                  <c:pt idx="2">
                    <c:v>NY</c:v>
                  </c:pt>
                  <c:pt idx="3">
                    <c:v>FL</c:v>
                  </c:pt>
                  <c:pt idx="4">
                    <c:v>PA</c:v>
                  </c:pt>
                  <c:pt idx="5">
                    <c:v>IL</c:v>
                  </c:pt>
                  <c:pt idx="6">
                    <c:v>OH</c:v>
                  </c:pt>
                  <c:pt idx="7">
                    <c:v>GA</c:v>
                  </c:pt>
                  <c:pt idx="8">
                    <c:v>NC</c:v>
                  </c:pt>
                  <c:pt idx="9">
                    <c:v>MI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78000</c:v>
                </c:pt>
                <c:pt idx="1">
                  <c:v>62000</c:v>
                </c:pt>
                <c:pt idx="2">
                  <c:v>48000</c:v>
                </c:pt>
                <c:pt idx="3">
                  <c:v>45000</c:v>
                </c:pt>
                <c:pt idx="4">
                  <c:v>39000</c:v>
                </c:pt>
                <c:pt idx="5">
                  <c:v>37000</c:v>
                </c:pt>
                <c:pt idx="6">
                  <c:v>32000</c:v>
                </c:pt>
                <c:pt idx="7">
                  <c:v>28000</c:v>
                </c:pt>
                <c:pt idx="8">
                  <c:v>26000</c:v>
                </c:pt>
                <c:pt idx="9">
                  <c:v>24000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2342"/>
                </a:solidFill>
                <a:latin typeface="Arial"/>
              </a:rPr>
              <a:t>Incident Type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F9C74F"/>
              </a:solidFill>
              <a:effectLst/>
            </c:spPr>
          </c:dPt>
          <c:dPt>
            <c:idx val="4"/>
            <c:bubble3D val="0"/>
            <c:spPr>
              <a:solidFill>
                <a:srgbClr val="E85D04"/>
              </a:solidFill>
              <a:effectLst/>
            </c:spPr>
          </c:dPt>
          <c:dPt>
            <c:idx val="5"/>
            <c:bubble3D val="0"/>
            <c:spPr>
              <a:solidFill>
                <a:srgbClr val="9B59B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Injury</c:v>
                </c:pt>
                <c:pt idx="1">
                  <c:v>Respiratory</c:v>
                </c:pt>
                <c:pt idx="2">
                  <c:v>Other Illness</c:v>
                </c:pt>
                <c:pt idx="3">
                  <c:v>Skin Disorder</c:v>
                </c:pt>
                <c:pt idx="4">
                  <c:v>Hearing Loss</c:v>
                </c:pt>
                <c:pt idx="5">
                  <c:v>Poisoning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560000</c:v>
                </c:pt>
                <c:pt idx="1">
                  <c:v>55000</c:v>
                </c:pt>
                <c:pt idx="2">
                  <c:v>40000</c:v>
                </c:pt>
                <c:pt idx="3">
                  <c:v>18000</c:v>
                </c:pt>
                <c:pt idx="4">
                  <c:v>8000</c:v>
                </c:pt>
                <c:pt idx="5">
                  <c:v>3000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Accuracy, ROC-AUC &amp; MCC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LightGBM ★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71.7</c:v>
                </c:pt>
                <c:pt idx="1">
                  <c:v>77</c:v>
                </c:pt>
                <c:pt idx="2">
                  <c:v>83.1</c:v>
                </c:pt>
                <c:pt idx="3">
                  <c:v>82.7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 ×100</c:v>
                </c:pt>
              </c:strCache>
            </c:strRef>
          </c:tx>
          <c:spPr>
            <a:solidFill>
              <a:srgbClr val="F9C7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LightGBM ★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89.2</c:v>
                </c:pt>
                <c:pt idx="1">
                  <c:v>91.9</c:v>
                </c:pt>
                <c:pt idx="2">
                  <c:v>95.2</c:v>
                </c:pt>
                <c:pt idx="3">
                  <c:v>95.3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MCC ×100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LightGBM ★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58</c:v>
                </c:pt>
                <c:pt idx="1">
                  <c:v>65.6</c:v>
                </c:pt>
                <c:pt idx="2">
                  <c:v>74.6</c:v>
                </c:pt>
                <c:pt idx="3">
                  <c:v>74.2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2F52"/>
          </a:solidFill>
          <a:ln w="12700">
            <a:solidFill>
              <a:srgbClr val="0D2F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1645920" cy="164592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645920"/>
            <a:ext cx="1097280" cy="1097280"/>
          </a:xfrm>
          <a:prstGeom prst="ellipse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2560320"/>
            <a:ext cx="731520" cy="731520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5720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57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CAPSTONE PROJECT  2025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Incident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Prediction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Machine Learning on OSHA ITA Case Data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Classify Incident Severity &amp; Support Safety Decisions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74F"/>
                </a:solidFill>
              </a:rPr>
              <a:t>Dataset: </a:t>
            </a:r>
            <a:pPr indent="0" marL="0">
              <a:buNone/>
            </a:pPr>
            <a:r>
              <a:rPr lang="en-US" sz="1100" dirty="0">
                <a:solidFill>
                  <a:srgbClr val="B0C8DC"/>
                </a:solidFill>
              </a:rPr>
              <a:t>ITA Case Detail Data 2024  |  686,806 Records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74F"/>
                </a:solidFill>
              </a:rPr>
              <a:t>Final Model: </a:t>
            </a:r>
            <a:pPr indent="0" marL="0">
              <a:buNone/>
            </a:pPr>
            <a:r>
              <a:rPr lang="en-US" sz="1100" dirty="0">
                <a:solidFill>
                  <a:srgbClr val="B0C8DC"/>
                </a:solidFill>
              </a:rPr>
              <a:t>LightGBM  |  Accuracy: 82%  |  ROC-AUC: 0.952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B30"/>
          </a:solidFill>
          <a:ln w="12700">
            <a:solidFill>
              <a:srgbClr val="071B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F9B"/>
                </a:solidFill>
              </a:rPr>
              <a:t>Capstone Presentation  •  25 min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F9B"/>
                </a:solidFill>
              </a:rPr>
              <a:t>Slide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937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73152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990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incidents cause 683,962 injury records annually. Predicting incident severity helps OSHA &amp; employers deploy prevention resources before harm escalates.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4937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13432"/>
            <a:ext cx="73152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0487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Goal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66090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multiclass classifier that predicts Incident Outcome (Death / Days Away / Job Transfer / Other Case) from incident features, occupational data &amp; text narratives.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575304"/>
            <a:ext cx="4937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75304"/>
            <a:ext cx="73152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Additions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9227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flagging, early intervention for high-severity cases, data-driven resource allocation, and support for policy decisions.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005840"/>
            <a:ext cx="3200400" cy="3749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10789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Dataset at a Glance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1554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C74F"/>
                </a:solidFill>
              </a:rPr>
              <a:t>686K+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623560" y="18745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DC"/>
                </a:solidFill>
              </a:rPr>
              <a:t>Total Records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23560" y="21945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C74F"/>
                </a:solidFill>
              </a:rPr>
              <a:t>39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25146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DC"/>
                </a:solidFill>
              </a:rPr>
              <a:t>Original Features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23560" y="2834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C74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23560" y="31546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DC"/>
                </a:solidFill>
              </a:rPr>
              <a:t>Outcome Classes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23560" y="34747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C74F"/>
                </a:solidFill>
              </a:rPr>
              <a:t>80/20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23560" y="37947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DC"/>
                </a:solidFill>
              </a:rPr>
              <a:t>Train / Test Split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23560" y="41148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C74F"/>
                </a:solidFill>
              </a:rPr>
              <a:t>586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23560" y="44348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DC"/>
                </a:solidFill>
              </a:rPr>
              <a:t>Features After Engineering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Target: incident_outcome  (1=Death  2=Days Away  3=Job Transfer  4=Other Case)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Exploratory Data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C8E8F5"/>
                </a:solidFill>
              </a:rPr>
              <a:t>Target Variable Distribution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C8DC"/>
                </a:solidFill>
              </a:rPr>
              <a:t>Slide 3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0058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806440" y="1024128"/>
            <a:ext cx="2971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024128"/>
            <a:ext cx="64008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0698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35.7%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20840" y="10789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Days Away From Work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89320" y="140817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244,181 cases — most common outcome; employees need recovery time off.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06440" y="1892808"/>
            <a:ext cx="2971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06440" y="1892808"/>
            <a:ext cx="64008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9385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34.0%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20840" y="19476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Other Recordable Case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89320" y="22768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232,651 incidents that are recorded but don't require absence or transfer.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806440" y="2761488"/>
            <a:ext cx="2971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06440" y="2761488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280720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30.3%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720840" y="28163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Job Transfer / Restriction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89320" y="314553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206,931 cases requiring modified duties or role reassignment.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806440" y="3630168"/>
            <a:ext cx="2971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06440" y="3630168"/>
            <a:ext cx="64008" cy="7498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89320" y="367588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</a:rPr>
              <a:t>0.03%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20840" y="3685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Death (Rare Class)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989320" y="401421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Only 199 fatalities — extreme class imbalance requiring special handling.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</a:rPr>
              <a:t>Key Challenge: Severe class imbalance (Death: 199 vs Others: ~230K+) impacts model training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EDA – Industry &amp; Occupation Insights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C8DC"/>
                </a:solidFill>
              </a:rPr>
              <a:t>Slide 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6012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96012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3200400"/>
            <a:ext cx="8503920" cy="1600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273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Key Insights from EDA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9C74F"/>
                </a:solidFill>
              </a:rPr>
              <a:t>California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E8"/>
                </a:solidFill>
              </a:rPr>
              <a:t> reports the highest incidents, followed by TX &amp; NY — large industrialized states dominate.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9C74F"/>
                </a:solidFill>
              </a:rPr>
              <a:t>Physical Injuries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E8"/>
                </a:solidFill>
              </a:rPr>
              <a:t> account for ~82% of all cases; Respiratory conditions are 2nd, especially COVID-related.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9C74F"/>
                </a:solidFill>
              </a:rPr>
              <a:t>Private Industry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E8"/>
                </a:solidFill>
              </a:rPr>
              <a:t> accounts for ~93% of incidents vs. State/Local Government.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9C74F"/>
                </a:solidFill>
              </a:rPr>
              <a:t>Summer months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E8"/>
                </a:solidFill>
              </a:rPr>
              <a:t> show slightly elevated incident counts — seasonal safety interventions may be warranted.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Healthcare, logistics &amp; warehousing are the highest-risk industries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C74F"/>
          </a:solidFill>
          <a:ln w="635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</a:rPr>
              <a:t>Monthly Risk Trend – Top Hazardous Industries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14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C8DC"/>
                </a:solidFill>
              </a:rPr>
              <a:t>Slide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" y="941832"/>
            <a:ext cx="5431536" cy="3236976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39496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97880" y="960120"/>
            <a:ext cx="2926080" cy="3200400"/>
          </a:xfrm>
          <a:prstGeom prst="rect">
            <a:avLst/>
          </a:prstGeom>
          <a:solidFill>
            <a:srgbClr val="0A2342"/>
          </a:solidFill>
          <a:ln w="6350"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03327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</a:rPr>
              <a:t>Key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44752"/>
            <a:ext cx="54864" cy="566928"/>
          </a:xfrm>
          <a:prstGeom prst="rect">
            <a:avLst/>
          </a:prstGeom>
          <a:solidFill>
            <a:srgbClr val="F9C74F"/>
          </a:solidFill>
          <a:ln w="635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1453896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F9C74F"/>
                </a:solidFill>
              </a:rPr>
              <a:t>Transportation (NAICS 49)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16916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B0C8DC"/>
                </a:solidFill>
              </a:rPr>
              <a:t>Highest risk sector year-round; peaks Jun–Jul (~550K). Courier &amp; delivery surges drive summer spikes.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121408"/>
            <a:ext cx="54864" cy="566928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213055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02C39A"/>
                </a:solidFill>
              </a:rPr>
              <a:t>Healthcare (NAICS 62)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36829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B0C8DC"/>
                </a:solidFill>
              </a:rPr>
              <a:t>2nd highest; stable ~350–415K Jan–Aug. Patient handling and COVID-related illnesses dominate.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798064"/>
            <a:ext cx="54864" cy="566928"/>
          </a:xfrm>
          <a:prstGeom prst="rect">
            <a:avLst/>
          </a:prstGeom>
          <a:solidFill>
            <a:srgbClr val="065A8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280720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065A82"/>
                </a:solidFill>
              </a:rPr>
              <a:t>Warehousing (NAICS 48)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304495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B0C8DC"/>
                </a:solidFill>
              </a:rPr>
              <a:t>Mid-range risk 100–230K; peaks mid-year aligned with peak logistics seasons.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474720"/>
            <a:ext cx="54864" cy="566928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3483863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1C7293"/>
                </a:solidFill>
              </a:rPr>
              <a:t>Mfg &amp; Retail (33/44)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37216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B0C8DC"/>
                </a:solidFill>
              </a:rPr>
              <a:t>Lowest but consistent risk. Manufacturing shows a steady decline through Q3–Q4.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8E8F4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</a:rPr>
              <a:t>Risk Score = Total Incidents × Avg Severity  |  All industries show declining risk in Q4 (likely data cutoff effect)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Correlation Heatmap – Numerical Variables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F9B"/>
                </a:solidFill>
              </a:rPr>
              <a:t>Slide 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5394960" cy="374904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employees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hours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soc_prob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dafw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djtr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inc_hr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start_hr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</a:rPr>
                        <a:t>-0.45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95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</a:rPr>
                        <a:t>-0.41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95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employees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</a:rPr>
                        <a:t>-0.45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95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0.91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-0.01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CA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-0.01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hours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</a:rPr>
                        <a:t>-0.41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95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0.91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-0.01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CA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CA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-0.02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soc_prob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-0.01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-0.01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dafw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CA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CA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0.12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djtr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CA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0.12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inc_hr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-0.01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-0.02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0.18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start_hr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0.18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8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960120"/>
            <a:ext cx="2926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1051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Heatmap Insights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1417320"/>
            <a:ext cx="64008" cy="658368"/>
          </a:xfrm>
          <a:prstGeom prst="rect">
            <a:avLst/>
          </a:prstGeom>
          <a:solidFill>
            <a:srgbClr val="014F86"/>
          </a:solidFill>
          <a:ln w="12700">
            <a:solidFill>
              <a:srgbClr val="014F8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14356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4F86"/>
                </a:solidFill>
              </a:rPr>
              <a:t>Strong +0.91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72200" y="164592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annual_average_employees ↔ total_hours_worked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More employees = more hours logged.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89320" y="2212848"/>
            <a:ext cx="64008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223113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Moderate −0.45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72200" y="244144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size ↔ employees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Size category inversely reflects actual headcount.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3008376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302666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Weak +0.18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72200" y="3236976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incident_hour ↔ start_hour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Incidents cluster near shift start times.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89320" y="3803904"/>
            <a:ext cx="64008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82219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Near Zero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403250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Severity metrics (dafw, djtr) are largely independent of establishment size.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Variables related to incident severity show very weak correlation with establishment characteristics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Preparation &amp; Feature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C8DC"/>
                </a:solidFill>
              </a:rPr>
              <a:t>Slide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Data Cleaning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65A82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Removed 5 identifier columns (id, EIN, case_no…)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65A82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Dropped 2,844 duplicates &amp; rows with missing SOC codes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65A82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Final clean dataset: 683,962 rows × 34 columns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944368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44368"/>
            <a:ext cx="42062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44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Feature Engineering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55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7293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Extracted: incident_hour, start_hour, hours_after_start, season, shift, is_weekend, incident_day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7293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Log-transform: employees, total_hours, soc_probability (reduce skewness)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142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7293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Severity score = dafw_num_away + djtr_num_tr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1005840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05840"/>
            <a:ext cx="4206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Encoding &amp; 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417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2C39A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Label encoding for high-cardinality categoricals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8105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2C39A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Geo-encoding: ZIP → latitude/longitude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22037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2C39A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TF-IDF on 5 text narrative columns (NLP features)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944368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944368"/>
            <a:ext cx="4206240" cy="34747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944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Final Feature Space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355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9C74F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586 total features after all transformations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3749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9C74F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Sparse[bool] TF-IDF + float64 numeric features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7760" y="4142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9C74F"/>
                </a:solidFill>
              </a:rPr>
              <a:t>▸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80/20 stratified train-test split + StandardScaler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Outlier capping at 99th percentile for employees &amp; hours_worked | Constant column year_filing_for removed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Algorithms Considered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F9B"/>
                </a:solidFill>
              </a:rPr>
              <a:t>Slide 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  <a:gridCol w="1097280"/>
                <a:gridCol w="338328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MCC 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 Regression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(Baseline)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71.7%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0.580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0.892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</a:rPr>
                        <a:t>Linear; class_weight='balanced'; good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Random Forest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(Balanced)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77.0%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0.656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0.919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</a:rPr>
                        <a:t>300 trees, max_depth=12; improved minority class recall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XGBoost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83.1%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0.746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0.952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</a:rPr>
                        <a:t>400 trees; strong boost but similar to LightGBM on rare class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342"/>
                          </a:solidFill>
                        </a:rPr>
                        <a:t>LightGBM ★ BEST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342"/>
                          </a:solidFill>
                        </a:rPr>
                        <a:t>82.7%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342"/>
                          </a:solidFill>
                        </a:rPr>
                        <a:t>0.742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342"/>
                          </a:solidFill>
                        </a:rPr>
                        <a:t>0.953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2342"/>
                          </a:solidFill>
                        </a:rPr>
                        <a:t>class_weight='balanced'; detected rare class (Death) — chosen final model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5661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3566160"/>
            <a:ext cx="41148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LightGBM?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3886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2C39A"/>
                </a:solidFill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Leaf-wise growth handles high-dim sparse TF-IDF features efficiently
</a:t>
            </a:r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2C39A"/>
                </a:solidFill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class_weight='balanced' improved rare class (Death) recall to 17%
</a:t>
            </a:r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2C39A"/>
                </a:solidFill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Fastest training on 547K+ samples with 585 features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3566160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3566160"/>
            <a:ext cx="4160520" cy="2743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Limitation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3886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E85D04"/>
                </a:solidFill>
              </a:rPr>
              <a:t>✗ 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Death class (199 samples) remains challenging — 17% recall
</a:t>
            </a:r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E85D04"/>
                </a:solidFill>
              </a:rPr>
              <a:t>✗ 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Data scarcity, not model weakness — SMOTE or more data needed
</a:t>
            </a:r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E85D04"/>
                </a:solidFill>
              </a:rPr>
              <a:t>✗ 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High memory usage: 2.7 GB with 586 sparse + dense features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All models trained with class balancing | XGBoost marginally higher accuracy but LightGBM better on rare class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LightGBM – Final Model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F9B"/>
                </a:solidFill>
              </a:rPr>
              <a:t>Slide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92024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82%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92024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241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0.742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MCC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2024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0241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0.741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1772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Cohen Kappa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960120"/>
            <a:ext cx="1920240" cy="96012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0241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0.953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6656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ROC-AUC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2560320"/>
        </p:xfrm>
        <a:graphic>
          <a:graphicData uri="http://schemas.openxmlformats.org/drawingml/2006/table">
            <a:tbl>
              <a:tblPr/>
              <a:tblGrid>
                <a:gridCol w="502920"/>
                <a:gridCol w="2514600"/>
                <a:gridCol w="1188720"/>
                <a:gridCol w="1188720"/>
                <a:gridCol w="1188720"/>
                <a:gridCol w="192024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Days Away From Work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0.79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48,883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D0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D04"/>
                          </a:solidFill>
                        </a:rPr>
                        <a:t>Death (Rare)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D04"/>
                          </a:solidFill>
                        </a:rPr>
                        <a:t>0.35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D04"/>
                          </a:solidFill>
                        </a:rPr>
                        <a:t>0.17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D04"/>
                          </a:solidFill>
                        </a:rPr>
                        <a:t>0.23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5D04"/>
                          </a:solidFill>
                        </a:rPr>
                        <a:t>52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Job Transfer / Restriction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</a:rPr>
                        <a:t>0.73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41,226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Other Recordable Case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0.99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46,632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Weighted Avg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0.83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0.83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0.83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136,793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65A82"/>
                </a:solidFill>
              </a:rPr>
              <a:t>Death class detection improved from 0% (XGBoost) to 17% recall with LightGBM class balancing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Performance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C8DC"/>
                </a:solidFill>
              </a:rPr>
              <a:t>Slide 9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60120"/>
          <a:ext cx="54864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960120"/>
            <a:ext cx="2834640" cy="3794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051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Final Selection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C74F"/>
                </a:solidFill>
              </a:rPr>
              <a:t>LightGBM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035040" y="1965960"/>
            <a:ext cx="2697480" cy="475488"/>
          </a:xfrm>
          <a:prstGeom prst="rect">
            <a:avLst/>
          </a:prstGeom>
          <a:solidFill>
            <a:srgbClr val="0D2F52"/>
          </a:solidFill>
          <a:ln w="12700">
            <a:solidFill>
              <a:srgbClr val="0D2F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9933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82%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DC"/>
                </a:solidFill>
              </a:rPr>
              <a:t>Accuracy on 136K test samples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035040" y="2505456"/>
            <a:ext cx="2697480" cy="475488"/>
          </a:xfrm>
          <a:prstGeom prst="rect">
            <a:avLst/>
          </a:prstGeom>
          <a:solidFill>
            <a:srgbClr val="0D2F52"/>
          </a:solidFill>
          <a:ln w="12700">
            <a:solidFill>
              <a:srgbClr val="0D2F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5328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0.953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86600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DC"/>
                </a:solidFill>
              </a:rPr>
              <a:t>Highest ROC-AUC score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35040" y="3044952"/>
            <a:ext cx="2697480" cy="475488"/>
          </a:xfrm>
          <a:prstGeom prst="rect">
            <a:avLst/>
          </a:prstGeom>
          <a:solidFill>
            <a:srgbClr val="0D2F52"/>
          </a:solidFill>
          <a:ln w="12700">
            <a:solidFill>
              <a:srgbClr val="0D2F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307238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0.742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86600" y="31363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DC"/>
                </a:solidFill>
              </a:rPr>
              <a:t>Strong MCC (balanced classes)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35040" y="3584448"/>
            <a:ext cx="2697480" cy="475488"/>
          </a:xfrm>
          <a:prstGeom prst="rect">
            <a:avLst/>
          </a:prstGeom>
          <a:solidFill>
            <a:srgbClr val="0D2F52"/>
          </a:solidFill>
          <a:ln w="12700">
            <a:solidFill>
              <a:srgbClr val="0D2F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6118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17%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86600" y="36758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DC"/>
                </a:solidFill>
              </a:rPr>
              <a:t>Recall on rare Death class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035040" y="4123944"/>
            <a:ext cx="2697480" cy="475488"/>
          </a:xfrm>
          <a:prstGeom prst="rect">
            <a:avLst/>
          </a:prstGeom>
          <a:solidFill>
            <a:srgbClr val="0D2F52"/>
          </a:solidFill>
          <a:ln w="12700">
            <a:solidFill>
              <a:srgbClr val="0D2F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41513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Fastest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086600" y="421538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DC"/>
                </a:solidFill>
              </a:rPr>
              <a:t>Training among tree models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LightGBM selected for best balance of accuracy, rare-class detection, and computational efficiency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Conclusions &amp; Path to Production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F9B"/>
                </a:solidFill>
              </a:rPr>
              <a:t>Slide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0584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✔  82% Accuracy Achieved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LightGBM successfully classifies incident severity across 136K+ test records with weighted F1 of 0.83.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834640"/>
            <a:ext cx="42062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83464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✔  Rare Class Detection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Death class (199 samples) detected at 17% recall — a major improvement over baseline models that predicted 0 deaths.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42062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00584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✔  Feature Engineering Matters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4173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TF-IDF on incident narratives, geo-encoding, and temporal features significantly boosted model performance.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34640"/>
            <a:ext cx="4206240" cy="34747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83464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 Future Work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461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SMOTE / oversampling for rare class, hyperparameter tuning, SHAP explanations, real-time API deployment via FastAPI.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617720"/>
            <a:ext cx="8503920" cy="164592"/>
          </a:xfrm>
          <a:prstGeom prst="rect">
            <a:avLst/>
          </a:prstGeom>
          <a:solidFill>
            <a:srgbClr val="D1E8F5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54456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28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Save Model (Pickle/ONNX)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51760" y="454456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4828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FastAPI Endpoint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43400" y="454456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4828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Docker Container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35040" y="454456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4828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OSHA Dashboard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726680" y="454456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4828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Monitoring &amp; Retrain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0"/>
            <a:ext cx="2286000" cy="22860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91440"/>
            <a:ext cx="1828800" cy="18288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8DC"/>
                </a:solidFill>
              </a:rPr>
              <a:t>Workplace Incident Outcome Prediction  •  LightGBM  •  82% Accuracy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788920"/>
            <a:ext cx="3657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C74F"/>
                </a:solidFill>
              </a:rPr>
              <a:t>Questions &amp; Discussion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BDD9"/>
                </a:solidFill>
              </a:rPr>
              <a:t>10 minutes Q&amp;A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C74F"/>
                </a:solidFill>
              </a:rPr>
              <a:t>Dataset: </a:t>
            </a:r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</a:rPr>
              <a:t>ITA Case Detail Data 2024 | OSHA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  |    </a:t>
            </a:r>
            <a:pPr algn="ctr" indent="0" marL="0">
              <a:buNone/>
            </a:pPr>
            <a:r>
              <a:rPr lang="en-US" sz="1000" b="1" dirty="0">
                <a:solidFill>
                  <a:srgbClr val="F9C74F"/>
                </a:solidFill>
              </a:rPr>
              <a:t>Model: </a:t>
            </a:r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</a:rPr>
              <a:t>LightGBM (Gradient Boosting)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  |    </a:t>
            </a:r>
            <a:pPr algn="ctr" indent="0" marL="0">
              <a:buNone/>
            </a:pPr>
            <a:r>
              <a:rPr lang="en-US" sz="1000" b="1" dirty="0">
                <a:solidFill>
                  <a:srgbClr val="F9C74F"/>
                </a:solidFill>
              </a:rPr>
              <a:t>Records: </a:t>
            </a:r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</a:rPr>
              <a:t>683,962 cleaned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F52"/>
          </a:solidFill>
          <a:ln w="6350">
            <a:solidFill>
              <a:srgbClr val="0D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</a:rPr>
              <a:t>SafeGuard AI – Production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14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7F9B"/>
                </a:solidFill>
              </a:rPr>
              <a:t>Slide 12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394960" cy="32186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97880" y="960120"/>
            <a:ext cx="2926080" cy="3218688"/>
          </a:xfrm>
          <a:prstGeom prst="rect">
            <a:avLst/>
          </a:prstGeom>
          <a:solidFill>
            <a:srgbClr val="071B30"/>
          </a:solidFill>
          <a:ln w="6350">
            <a:solidFill>
              <a:srgbClr val="07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03327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</a:rPr>
              <a:t>App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44752"/>
            <a:ext cx="54864" cy="566928"/>
          </a:xfrm>
          <a:prstGeom prst="rect">
            <a:avLst/>
          </a:prstGeom>
          <a:solidFill>
            <a:srgbClr val="F9C74F"/>
          </a:solidFill>
          <a:ln w="635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1453896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F9C74F"/>
                </a:solidFill>
              </a:rPr>
              <a:t>🚀 Start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16916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B0C8DC"/>
                </a:solidFill>
              </a:rPr>
              <a:t>Input incident details and get instant outcome classification from the LightGBM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121408"/>
            <a:ext cx="54864" cy="566928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213055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02C39A"/>
                </a:solidFill>
              </a:rPr>
              <a:t>💬 Ask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236829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B0C8DC"/>
                </a:solidFill>
              </a:rPr>
              <a:t>Conversational interface for safety queries and incident risk assessment.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798064"/>
            <a:ext cx="54864" cy="566928"/>
          </a:xfrm>
          <a:prstGeom prst="rect">
            <a:avLst/>
          </a:prstGeom>
          <a:solidFill>
            <a:srgbClr val="065A8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280720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065A82"/>
                </a:solidFill>
              </a:rPr>
              <a:t>📊 Live Risk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304495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B0C8DC"/>
                </a:solidFill>
              </a:rPr>
              <a:t>Real-time dashboard showing risk categories, multi-industry coverage &amp; AI insights.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474720"/>
            <a:ext cx="54864" cy="566928"/>
          </a:xfrm>
          <a:prstGeom prst="rect">
            <a:avLst/>
          </a:prstGeom>
          <a:solidFill>
            <a:srgbClr val="E85D04"/>
          </a:solidFill>
          <a:ln w="635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3483863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E85D04"/>
                </a:solidFill>
              </a:rPr>
              <a:t>⚠️ High Risk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37216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B0C8DC"/>
                </a:solidFill>
              </a:rPr>
              <a:t>Automated flagging of high-severity incidents for immediate safety intervention.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B30"/>
          </a:solidFill>
          <a:ln w="6350">
            <a:solidFill>
              <a:srgbClr val="07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5A7F9B"/>
                </a:solidFill>
              </a:rPr>
              <a:t>Built with React + FastAPI  |  LightGBM backend  |  Deployed as containerized microservice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Workplace Incident Outcome Prediction - Capstone</dc:title>
  <dc:subject>PptxGenJS Presentation</dc:subject>
  <dc:creator>PptxGenJS</dc:creator>
  <cp:lastModifiedBy>PptxGenJS</cp:lastModifiedBy>
  <cp:revision>1</cp:revision>
  <dcterms:created xsi:type="dcterms:W3CDTF">2026-04-08T11:13:16Z</dcterms:created>
  <dcterms:modified xsi:type="dcterms:W3CDTF">2026-04-08T11:13:16Z</dcterms:modified>
</cp:coreProperties>
</file>